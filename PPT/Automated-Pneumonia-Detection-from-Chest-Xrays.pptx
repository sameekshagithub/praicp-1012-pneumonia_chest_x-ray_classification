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omfortaa Bold"/>
      <p:regular r:id="rId201314"/>
    </p:embeddedFont>
    <p:embeddedFont>
      <p:font typeface="Raleway Medium"/>
      <p:regular r:id="rId201315"/>
    </p:embeddedFont>
    <p:embeddedFont>
      <p:font typeface="Raleway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1759049"/>
            <a:ext cx="61797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Automated Pneumonia Detection from Chest X‑rays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291898" y="3782120"/>
            <a:ext cx="6179784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Practical guide and results from PRAICP-1012: building, comparing, and selecting CNN models to classify chest X‑rays as NORMAL or PNEUMONIA. Audience: ML practitioners &amp; data scientists in medical imaging.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1531441"/>
            <a:ext cx="6179784" cy="45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Problem &amp; Objective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5291898" y="2297113"/>
            <a:ext cx="6179784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Problem: Radiologist-dependent pneumonia diagnosis is time-consuming and variable. Objective: Develop a CNN pipeline to classify X‑rays as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NORMAL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or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PNEUMONIA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, compare multiple model families, and select a production-ready model prioritizing clinical safety (Recall).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291898" y="4174530"/>
            <a:ext cx="6179784" cy="1152029"/>
          </a:xfrm>
          <a:prstGeom prst="roundRect">
            <a:avLst>
              <a:gd name="adj" fmla="val 26788"/>
            </a:avLst>
          </a:prstGeom>
          <a:solidFill>
            <a:srgbClr val="806A0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573" y="4467523"/>
            <a:ext cx="257169" cy="205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60417" y="4431605"/>
            <a:ext cx="530559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Primary metric: Recall (minimize missed pneumonia cases).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215132"/>
            <a:ext cx="10751670" cy="45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Libraries &amp; Runtime Checks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678609"/>
            <a:ext cx="3999507" cy="22663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27705" y="2165945"/>
            <a:ext cx="6859813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Core tools loaded in the notebook: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227705" y="2680295"/>
            <a:ext cx="6250228" cy="19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TensorFlow / Keras — model building &amp; training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PIL / OpenCV — image I/O &amp; preprocessing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NumPy / Pandas — data handling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Matplotlib / Seaborn — EDA &amp; plots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scikit‑learn — metrics, confusion matrix, ROC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227705" y="4799211"/>
            <a:ext cx="6250228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Also: GPU availability check — strongly recommended for training speed and reproducibility.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1513681"/>
            <a:ext cx="6179784" cy="914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Dataset Upload &amp; Domain Analysis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5291898" y="2736453"/>
            <a:ext cx="678936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Actions taken: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291898" y="3297039"/>
            <a:ext cx="6179784" cy="204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Download &amp; extract ~1.5GB chest X‑ray dataset; detect standard folder layout: train / val / test with NORMAL and PNEUMONIA subfolders.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Domain note: Pneumonia appears as localized or diffuse white opacities; CNNs can learn these visual patterns if data is well preprocessed.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93254"/>
            <a:ext cx="10751670" cy="45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Basic Sanity Checks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881386"/>
            <a:ext cx="6812883" cy="38607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1082" y="1744067"/>
            <a:ext cx="4046436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Checks performed: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041082" y="2258417"/>
            <a:ext cx="3436852" cy="244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Class counts by split (train/val/test)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Detect corrupted/unreadable files and remove them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Assess class imbalance → compute class weights for training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041082" y="4891881"/>
            <a:ext cx="3436852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Outcome: Imbalance present; class weights and augmentation planned to compensate.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1014611"/>
            <a:ext cx="6179784" cy="45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Preprocessing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720012" y="1780282"/>
            <a:ext cx="678936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Pipeline steps: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0012" y="2340868"/>
            <a:ext cx="6179784" cy="178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Resize images to 150×150px and rescale pixel values to [0,1].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Training-only augmentation: random rotations, zoom, horizontal flips to improve generalization.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Compute and apply class weights during training to reduce bias toward majority class.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20012" y="4362152"/>
            <a:ext cx="6179784" cy="1481237"/>
          </a:xfrm>
          <a:prstGeom prst="roundRect">
            <a:avLst>
              <a:gd name="adj" fmla="val 20834"/>
            </a:avLst>
          </a:prstGeom>
          <a:solidFill>
            <a:srgbClr val="02234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688" y="4655145"/>
            <a:ext cx="257169" cy="205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88532" y="4619228"/>
            <a:ext cx="5305590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Keep augmentation realistic for X‑rays — avoid transforms that alter clinical markers (no color shifts, conservative rotations).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57337"/>
            <a:ext cx="10751670" cy="45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Exploratory Data Analysis (EDA)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359720"/>
            <a:ext cx="5124917" cy="2904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708150"/>
            <a:ext cx="5734502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Key EDA visuals: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353115" y="2222500"/>
            <a:ext cx="5124917" cy="2849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Class-count bar chart across train/val/test (verifies splits)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Sample images per class to inspect visual patterns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Distribution of original image dimensions — justifies fixed resize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Average-image comparison (NORMAL vs PNEUMONIA) highlighting opacity differences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53115" y="5257105"/>
            <a:ext cx="51249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Insight: Visual differences are consistent and learnable; preprocessing preserves critical features.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214735"/>
            <a:ext cx="10751670" cy="45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Modeling Strategy — Models Trained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83296"/>
            <a:ext cx="750670" cy="9383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7851" y="2083296"/>
            <a:ext cx="240460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Custom CNN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727851" y="2492474"/>
            <a:ext cx="2404605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Several conv + pooling layers trained from scratch. Useful baseline; more parameters but tailored to dataset size.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625" y="2083296"/>
            <a:ext cx="750670" cy="9383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7464" y="2083296"/>
            <a:ext cx="24046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VGG16 (Transfer Learning)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397464" y="2778224"/>
            <a:ext cx="2404605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Frozen ImageNet encoder + new dense head. Data‑efficient, strong feature extractor for texture-based medical patterns.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238" y="2083296"/>
            <a:ext cx="750670" cy="9383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7077" y="2083296"/>
            <a:ext cx="24046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MobileNetV2 (Transfer Learning)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067077" y="2778224"/>
            <a:ext cx="2404605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Lightweight, fast inference—good candidate for edge deployment or low-resource hospitals.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20012" y="4984849"/>
            <a:ext cx="1075167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Training tactics: EarlyStopping and ReduceLROnPlateau callbacks for efficient convergence and overfitting control.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47700"/>
            <a:ext cx="1075167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Fine‑Tuning &amp; Hyperparameter Notes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873" y="2249984"/>
            <a:ext cx="5097633" cy="30255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33915" y="4478829"/>
            <a:ext cx="1267172" cy="433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Retrain Low LR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536931" y="4478829"/>
            <a:ext cx="1267172" cy="433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Unfreeze Layers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913910" y="4587322"/>
            <a:ext cx="1267172" cy="21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Select Model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10523" y="1467445"/>
            <a:ext cx="4076995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Approach: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10523" y="1903710"/>
            <a:ext cx="3467410" cy="239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7000"/>
              </a:lnSpc>
              <a:buSzPct val="100000"/>
              <a:buChar char="•"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Choose top-performing transfer-learning model from initial runs.</a:t>
            </a:r>
            <a:endParaRPr lang="en-US" sz="1450" dirty="0"/>
          </a:p>
          <a:p>
            <a:pPr algn="l" marL="294640" indent="-294640">
              <a:lnSpc>
                <a:spcPct val="127000"/>
              </a:lnSpc>
              <a:buSzPct val="100000"/>
              <a:buChar char="•"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Unfreeze a few higher layers and retrain with a very small LR to adapt filters to X‑ray characteristics.</a:t>
            </a:r>
            <a:endParaRPr lang="en-US" sz="1450" dirty="0"/>
          </a:p>
          <a:p>
            <a:pPr algn="l" marL="294640" indent="-294640">
              <a:lnSpc>
                <a:spcPct val="127000"/>
              </a:lnSpc>
              <a:buSzPct val="100000"/>
              <a:buChar char="•"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Monitor validation Recall and ROC‑AUC; use early stopping to avoid catastrophic forgetting.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010523" y="4486077"/>
            <a:ext cx="3467410" cy="1534120"/>
          </a:xfrm>
          <a:prstGeom prst="roundRect">
            <a:avLst>
              <a:gd name="adj" fmla="val 18230"/>
            </a:avLst>
          </a:prstGeom>
          <a:solidFill>
            <a:srgbClr val="806A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6950" y="4741565"/>
            <a:ext cx="233059" cy="1864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16437" y="4684613"/>
            <a:ext cx="2675069" cy="1137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Fine-tuning typically yields modest but clinically meaningful gains when dataset is medium-sized.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20030"/>
            <a:ext cx="1075167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Model Comparison &amp; Final Recommendation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127548"/>
            <a:ext cx="5715750" cy="3238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81243" y="1498005"/>
            <a:ext cx="5206274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Comparison highlights (sorted by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Recall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):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81243" y="1909663"/>
            <a:ext cx="4596690" cy="2594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Fine‑tuned transfer model: Highest Recall and ROC‑AUC — recommended primary screening model.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MobileNetV2: Near-top performance, much faster inference — recommended for edge deployment.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VGG16: Strong baseline but heavier; good for server-side inference.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Custom CNN: Useful baseline; often lower generalization without more data or regularization.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81243" y="4646315"/>
            <a:ext cx="4596690" cy="134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Final recommendation: Deploy the fine‑tuned transfer model as clinical triage (first‑pass). Use MobileNetV2 variant where compute is constrained. Continue monitoring Recall and false positive rates in real deployments.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2026-09-25T05:43:31Z</dcterms:created>
  <dcterms:modified xsi:type="dcterms:W3CDTF">2026-09-25T05:43:31Z</dcterms:modified>
</cp:coreProperties>
</file>