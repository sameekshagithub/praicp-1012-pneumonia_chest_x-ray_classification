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70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8055" y="994756"/>
            <a:ext cx="11636017" cy="2479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Pneumonia Detection from Chest X-Ray Images Using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Convolutional Neural Networks (CNN)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Capstone Project – PRAICP-1012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 Sameeksha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22C55-78E2-63D7-0671-9A2C145D0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55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Problem Statement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Dataset Overview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Class Categories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Project Workflow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Exploratory Data Analysis (EDA)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Image Preprocessing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Train–Validation–Test Split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Data Augmentation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Deep Learning Models (CNN, VGG16 &amp; MobileNetV2)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1371600"/>
            <a:ext cx="5120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CNN Architecture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Transfer Learning &amp; Fine-Tuning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Challenges Faced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Model Comparison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Best Model Selection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Applications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 Future Scope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17. Conclusion</a:t>
            </a:r>
            <a:endParaRPr lang="en-US" sz="2400" dirty="0"/>
          </a:p>
          <a:p>
            <a:pPr algn="l">
              <a:buSzPct val="100000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 Model Output &amp; Predictions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0C807E-73EC-75D0-4B19-E34CEECCE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309" y="4835235"/>
            <a:ext cx="3919035" cy="2056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680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Problem Statement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Pneumonia is diagnosed by a radiologist visually inspecting a chest X-ray for areas of increased lung opacity.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screening is:</a:t>
            </a:r>
            <a:endParaRPr lang="en-US" sz="2000" dirty="0"/>
          </a:p>
          <a:p>
            <a:pPr marL="1028700" lvl="2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Time-consuming</a:t>
            </a:r>
            <a:endParaRPr lang="en-US" sz="2000" dirty="0"/>
          </a:p>
          <a:p>
            <a:pPr marL="1028700" lvl="2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Dependent on radiologist availability</a:t>
            </a:r>
            <a:endParaRPr lang="en-US" sz="2000" dirty="0"/>
          </a:p>
          <a:p>
            <a:pPr marL="1028700" lvl="2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 to inter-observer variability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Project Goal – Develop a CNN-based image classification system to automatically detect Pneumonia from chest X-ray images.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Objectives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the chest X-ray dataset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deep learning classification models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image augmentation and class-weighting techniques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multiple CNN models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the best-performing model, prioritizing Recall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4C03E9-EBF0-5C51-4D2E-0EAF3D95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DATASET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6809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Dataset Information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Images: ~5,863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Classes: 2 (NORMAL, PNEUMONIA)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Splits: train / val / test folders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Type: Imbalanced (more PNEUMONIA than NORMAL)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Class Categories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PNEUMONIA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Dataset Characteristics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Grayscale X-ray images (loaded as RGB)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image resolutions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corrupted images (verified)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Challenge</a:t>
            </a:r>
            <a:endParaRPr lang="en-US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imbalance and a very small original validation split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Dataset Link: DataMites Capstone Project Dataset (Chest-Xray-2.zip)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A6B9F4-BE41-25A8-C92A-58DC2A787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CLASS CATEGORIES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943600" cy="532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Chest X-Ray Classes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NORMAL</a:t>
            </a:r>
            <a:endParaRPr lang="en-US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Clear, dark (air-filled) lung fields</a:t>
            </a:r>
            <a:endParaRPr lang="en-US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Well-defined vascular markings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PNEUMONIA</a:t>
            </a:r>
            <a:endParaRPr lang="en-US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Areas of increased opacity (whiteness) in the lung fields</a:t>
            </a:r>
            <a:endParaRPr lang="en-US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Caused by fluid / inflammatory exudate filling the alveoli</a:t>
            </a:r>
            <a:endParaRPr lang="en-US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be subtle, localized, or affected by patient positioning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9E88A5-C411-80E0-216E-0E6C44168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95055"/>
            <a:ext cx="5150815" cy="3491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PROJECT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Pipeline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Download &amp; Extract Dataset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Auto-detect Train / Val / Test Folders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Checks (class counts, corrupt images)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Preprocessing &amp; Augmentation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Class Weights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(EDA)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CNN, VGG16 &amp; MobileNetV2 Models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&amp; Validate Models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on Test Set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Fine-Tune Best Transfer Model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Models &amp; Select Best</a:t>
            </a:r>
            <a:endParaRPr lang="en-US" sz="2400" dirty="0"/>
          </a:p>
          <a:p>
            <a:pPr marL="457200" indent="-457200" algn="l"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Pneumonia vs Normal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2A7660-3A9A-A78B-322B-E4CADC742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873" y="0"/>
            <a:ext cx="5181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EXPLORATORY DATA ANALYSIS (EDA)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2179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Dataset Analysis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Performed detailed dataset analysis before model training.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Analysis Performed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distribution across splits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image visualization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dimension distribution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pixel-intensity comparison (NORMAL vs PNEUMONIA)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Corrupted image detection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Findings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imbalance (more PNEUMONIA images)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dimensions vary — resizing required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Visible opacity/texture difference between classes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F271F2-711E-A415-7DDC-1C79742E8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15"/>
            <a:ext cx="5260578" cy="44805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IMAGE PREPROCESSING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583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Image Preprocessing Steps</a:t>
            </a:r>
            <a:endParaRPr lang="en-US" sz="24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Download &amp; extract dataset archive</a:t>
            </a:r>
            <a:endParaRPr lang="en-US" sz="24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Auto-detect NORMAL / PNEUMONIA class folders</a:t>
            </a:r>
            <a:endParaRPr lang="en-US" sz="24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Resize all images to 150 × 150</a:t>
            </a:r>
            <a:endParaRPr lang="en-US" sz="24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images as 3-channel RGB</a:t>
            </a:r>
            <a:endParaRPr lang="en-US" sz="24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Rescale pixel values between 0 and 1</a:t>
            </a:r>
            <a:endParaRPr lang="en-US" sz="24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images in batches via ImageDataGenerator</a:t>
            </a:r>
            <a:endParaRPr lang="en-US" sz="2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Purpose – To create a clean, standardized, memory-efficient dataset for CNN training.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B4B0B3-CD04-565A-A135-D7D4765DB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TRAIN–VALIDATION–TEST SPLIT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79" y="1143000"/>
            <a:ext cx="6744393" cy="51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Dataset Splitting</a:t>
            </a:r>
            <a:endParaRPr lang="en-US" sz="2000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Test folders provided by the dataset structure</a:t>
            </a:r>
            <a:endParaRPr lang="en-US" sz="2000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validation folder too small (~16 images)</a:t>
            </a:r>
            <a:endParaRPr lang="en-US" sz="2000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Set: auto-generated as 10% of training data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Why Split the Dataset?</a:t>
            </a:r>
            <a:endParaRPr lang="en-US" sz="2000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Training: learn image patterns</a:t>
            </a:r>
            <a:endParaRPr lang="en-US" sz="2000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Validation: tune model performance / early stopping</a:t>
            </a:r>
            <a:endParaRPr lang="en-US" sz="2000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Testing: evaluate final, unbiased performance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Class Weights</a:t>
            </a:r>
            <a:endParaRPr lang="en-US" sz="2000" dirty="0"/>
          </a:p>
          <a:p>
            <a:pPr marL="685800" lvl="1" indent="-342900" algn="l">
              <a:lnSpc>
                <a:spcPct val="150000"/>
              </a:lnSpc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Computed on the training set (‘balanced’) to counter class imbalance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66089D-9CBD-1DE7-26F8-B67E770FE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020" y="401227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DATA AUGMENTATION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55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Data Augmentation?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training set is imbalanced and limited in size.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 increases image diversity and reduces overfitting.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Techniques Used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Rotation (±10°)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Width Shift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Height Shift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Shear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Zoom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Horizontal Flip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Rescaling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Not Used – Vertical Flip (unrealistic chest X-ray orientation)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9CC544-D958-5175-AF09-4990F197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982" y="822955"/>
            <a:ext cx="5805054" cy="5212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MODELS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Deep Learning Models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Model 1 – Custom CNN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from scratch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model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Learns features directly from training images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Model 2 – VGG16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Learning, pretrained on ImageNet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accuracy, larger model size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Model 3 – MobileNetV2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Learning, lightweight architecture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inference, suitable for edge / mobile deployment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A7290F-DCAE-F041-9F55-78A4A194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574" y="849013"/>
            <a:ext cx="6026881" cy="4300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CNN ARCHITECTURE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4E22A-306E-B944-4E76-7E8C6A9F4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413164"/>
            <a:ext cx="10287000" cy="51247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TRANSFER LEARNING &amp; FINE-TUNING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7665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Transfer Learning?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chest X-ray dataset is small relative to ImageNet.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deep CNNs from scratch risks overfitting.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Pretrained ImageNet models improve performance and training speed.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Benefits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Faster training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feature extraction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accuracy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overfitting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Fine-Tuning Strategy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Unfreeze the top 30 layers of the best transfer model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 with a much smaller learning rate (1e-5)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0B9C8-7E38-99A7-24B8-564418AB6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CHALLENGES FACED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Challenges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dataset size (~1.5 GB)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imbalance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small original validation split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of overfitting on a domain-specific dataset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Varying image resolutions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Solutions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Streamed images via flow_from_directory generators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Computed balanced class weights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Auto-generated a validation split (10% of train)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augmentation, Dropout, BatchNorm, EarlyStopping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Resized every image to a fixed 150×150 input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9058B9-A72B-4777-28B2-1020B6E7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MODEL COMPARISON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515600" cy="3840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ADVANTAGE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Custom CNN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 architecture, fast to train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Lower recall, more prone to overfitting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VGG16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accuracy, strong feature extraction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 model size, slower inference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MobileNetV2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Lightweight, fast, good accuracy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Slightly less capacity than VGG16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Fine-Tuned (Best)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 Recall on PNEUMONIA class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longer, careful low-LR training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BEST MODEL SELECTION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Model: CNN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Reasons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Recall (Sensitivity) on the PNEUMONIA class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overall Accuracy, Precision, F1-Score and ROC-AUC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Benefited from ImageNet-pretrained features + fine-tuning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 generalization on the held-out test set</a:t>
            </a:r>
            <a:endParaRPr lang="en-US" sz="2000" dirty="0"/>
          </a:p>
          <a:p>
            <a:pPr marL="685800" lvl="1" indent="-342900" algn="l">
              <a:spcAft>
                <a:spcPts val="6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for deployment as a screening-assistance tool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A7562F-FAAC-05A5-4F5B-AE0DA94C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29" y="986442"/>
            <a:ext cx="5394971" cy="43891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APPLICATIONS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583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Real-World Applications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Assistive radiology screening tool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Telemedicine &amp; remote diagnosis support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/ low-resource clinic triage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Hospital workflow prioritization (flagging likely-positive cases)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/ point-of-care diagnostic apps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decision-support systems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4CB33F-C8FF-5AC4-7067-E06F966F7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600"/>
              </a:spcAft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Future Improvements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larger, more diverse chest X-ray datasets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to multi-class diagnosis (bacterial vs. viral pneumonia)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Grad-CAM / saliency maps for explainability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on external, out-of-distribution datasets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 as a web or mobile inference application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ensemble methods across all trained models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Pursue clinical validation and regulatory review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DC9540-0A8C-3448-F5EB-11427AB7E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17.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5895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Successfully developed a deep learning system for chest X-ray Pneumonia classification.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Performed data preprocessing, augmentation, class-weighting, and exploratory data analysis.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and compared three deep learning models: Custom CNN, VGG16 and MobileNetV2.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Fine-tuning the best transfer-learning model further improved Recall on the PNEUMONIA class.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 was prioritized over raw accuracy, reflecting the clinical cost of missed diagnoses.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solution can support faster, more consistent preliminary screening — assisting, not replacing, radiologists.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BDF2B4-9059-12D5-2453-27818055E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 MODEL OUTPUT &amp; PREDICTIONS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AF16B-8266-F7DE-E753-2DE05320A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12192000" cy="52591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79964"/>
            <a:ext cx="10515600" cy="2479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YOU!!</a:t>
            </a:r>
            <a:endParaRPr lang="en-US" sz="8000" dirty="0">
              <a:solidFill>
                <a:schemeClr val="accent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8E74A3-06E2-4C49-F7B8-F1AABADB1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418" y="4378036"/>
            <a:ext cx="3919035" cy="2479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1237</Words>
  <Application>Microsoft Office PowerPoint</Application>
  <PresentationFormat>Widescreen</PresentationFormat>
  <Paragraphs>232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Sameeksha Rai</cp:lastModifiedBy>
  <cp:revision>3</cp:revision>
  <dcterms:created xsi:type="dcterms:W3CDTF">2026-09-26T12:54:57Z</dcterms:created>
  <dcterms:modified xsi:type="dcterms:W3CDTF">2026-09-26T13:50:46Z</dcterms:modified>
</cp:coreProperties>
</file>